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5143500" type="screen16x9"/>
  <p:notesSz cx="5143500" cy="9144000"/>
  <p:embeddedFontLst>
    <p:embeddedFont>
      <p:font typeface="Barlow" panose="00000500000000000000" pitchFamily="2" charset="0"/>
      <p:regular r:id="rId14"/>
      <p:bold r:id="rId15"/>
      <p:italic r:id="rId16"/>
      <p:boldItalic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Spline Sans Bold" panose="020B0604020202020204" charset="0"/>
      <p:regular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01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0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4" d="100"/>
          <a:sy n="84" d="100"/>
        </p:scale>
        <p:origin x="436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3FC1596-5954-4F0B-C2ED-40A526F074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2FFBC6C-D605-FFD4-3040-6836135A91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1FA15D-D3DB-4320-A7B0-43FA6AEA9E8F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D669E6C-FE01-DE39-80D6-26B07AC0D0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0298D72-8496-B0E0-D031-9AFBA1A1AB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6477E9-C869-40C6-802C-72DF4C8AD2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7714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345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1C883-3EE1-048B-0C43-4AFDAAEFA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801A2D-CC56-C2DD-2611-9FD29C7F1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9A01E-E488-3780-A28A-371ABA7AE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01D43-B8A5-A6DA-6EA0-FE92C2DED9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13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DFF37-0744-C994-CFF8-D3DB32B03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6A7E2A-852C-782A-7044-1D7F18B2E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A69615-E94F-AC78-D9A3-13C7E381E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F4DE2-08DB-B7EA-C645-25D027C4FE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82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BE272-40E9-9C5E-6F8F-828EE8CC1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3D7D3D3-7344-9D7D-FE1B-76748D42A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768CB9B-6DEF-2037-8AE9-FD91E012A8D7}"/>
              </a:ext>
            </a:extLst>
          </p:cNvPr>
          <p:cNvSpPr/>
          <p:nvPr/>
        </p:nvSpPr>
        <p:spPr>
          <a:xfrm>
            <a:off x="3969023" y="1625278"/>
            <a:ext cx="437532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Консольный чат на C#</a:t>
            </a:r>
            <a:endParaRPr lang="en-US" sz="27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FCAF89C-BC05-2B8D-93A8-0F01BA0E1386}"/>
              </a:ext>
            </a:extLst>
          </p:cNvPr>
          <p:cNvSpPr/>
          <p:nvPr/>
        </p:nvSpPr>
        <p:spPr>
          <a:xfrm>
            <a:off x="3969023" y="3791335"/>
            <a:ext cx="463495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ru-RU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Автор: Глухов Сергей 24КИР3</a:t>
            </a:r>
            <a:endParaRPr lang="en-US" sz="10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96C64B1-20FC-E116-9BBF-F8D2B6B7F7F5}"/>
              </a:ext>
            </a:extLst>
          </p:cNvPr>
          <p:cNvSpPr/>
          <p:nvPr/>
        </p:nvSpPr>
        <p:spPr>
          <a:xfrm>
            <a:off x="3969023" y="3213869"/>
            <a:ext cx="341412" cy="290066"/>
          </a:xfrm>
          <a:prstGeom prst="roundRect">
            <a:avLst>
              <a:gd name="adj" fmla="val 63836"/>
            </a:avLst>
          </a:prstGeom>
          <a:solidFill>
            <a:srgbClr val="004D3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07F005F-1EF0-2764-A252-217FFC4A9138}"/>
              </a:ext>
            </a:extLst>
          </p:cNvPr>
          <p:cNvSpPr/>
          <p:nvPr/>
        </p:nvSpPr>
        <p:spPr>
          <a:xfrm>
            <a:off x="4061594" y="3260154"/>
            <a:ext cx="613470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C#</a:t>
            </a:r>
            <a:endParaRPr lang="en-US" sz="9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9F987B8-8981-A4CA-59D0-9AA49C54706E}"/>
              </a:ext>
            </a:extLst>
          </p:cNvPr>
          <p:cNvSpPr/>
          <p:nvPr/>
        </p:nvSpPr>
        <p:spPr>
          <a:xfrm>
            <a:off x="4387528" y="3199581"/>
            <a:ext cx="474613" cy="318641"/>
          </a:xfrm>
          <a:prstGeom prst="roundRect">
            <a:avLst>
              <a:gd name="adj" fmla="val 58111"/>
            </a:avLst>
          </a:prstGeom>
          <a:noFill/>
          <a:ln w="14288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999C3A0-020A-49EC-FB66-FF9C89C7C294}"/>
              </a:ext>
            </a:extLst>
          </p:cNvPr>
          <p:cNvSpPr/>
          <p:nvPr/>
        </p:nvSpPr>
        <p:spPr>
          <a:xfrm>
            <a:off x="4494386" y="3260154"/>
            <a:ext cx="718096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.NET</a:t>
            </a:r>
            <a:endParaRPr lang="en-US" sz="9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972AEC8-BEE6-B824-FC08-F85746097D4A}"/>
              </a:ext>
            </a:extLst>
          </p:cNvPr>
          <p:cNvSpPr/>
          <p:nvPr/>
        </p:nvSpPr>
        <p:spPr>
          <a:xfrm>
            <a:off x="4939233" y="3199581"/>
            <a:ext cx="966341" cy="318641"/>
          </a:xfrm>
          <a:prstGeom prst="roundRect">
            <a:avLst>
              <a:gd name="adj" fmla="val 58111"/>
            </a:avLst>
          </a:prstGeom>
          <a:noFill/>
          <a:ln w="14288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758FA6C-E501-5900-C509-1C06A9CDB02D}"/>
              </a:ext>
            </a:extLst>
          </p:cNvPr>
          <p:cNvSpPr/>
          <p:nvPr/>
        </p:nvSpPr>
        <p:spPr>
          <a:xfrm>
            <a:off x="5046092" y="3260154"/>
            <a:ext cx="1209824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TCP SOCKETS</a:t>
            </a:r>
            <a:endParaRPr lang="en-US" sz="9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BECA42D-A59C-312E-3C52-100C9EAEF4FD}"/>
              </a:ext>
            </a:extLst>
          </p:cNvPr>
          <p:cNvSpPr/>
          <p:nvPr/>
        </p:nvSpPr>
        <p:spPr>
          <a:xfrm>
            <a:off x="5982667" y="3199581"/>
            <a:ext cx="1186086" cy="318641"/>
          </a:xfrm>
          <a:prstGeom prst="roundRect">
            <a:avLst>
              <a:gd name="adj" fmla="val 58111"/>
            </a:avLst>
          </a:prstGeom>
          <a:noFill/>
          <a:ln w="14288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4401A85-B03F-9CA5-564D-78F564475C75}"/>
              </a:ext>
            </a:extLst>
          </p:cNvPr>
          <p:cNvSpPr/>
          <p:nvPr/>
        </p:nvSpPr>
        <p:spPr>
          <a:xfrm>
            <a:off x="6089526" y="3260154"/>
            <a:ext cx="1429569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MULTITHREADING</a:t>
            </a:r>
            <a:endParaRPr lang="en-US" sz="95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5FF8607E-5F59-D0E7-307D-28D0D661339A}"/>
              </a:ext>
            </a:extLst>
          </p:cNvPr>
          <p:cNvSpPr/>
          <p:nvPr/>
        </p:nvSpPr>
        <p:spPr>
          <a:xfrm>
            <a:off x="3969023" y="2315813"/>
            <a:ext cx="463495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Разработка клиент-серверного приложения для обмена сообщениями в реальном времени — локально и через TCP-сеть.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3910828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  <p:sndAc>
          <p:stSnd>
            <p:snd r:embed="rId3" name="drumroll.wav"/>
          </p:stSnd>
        </p:sndAc>
      </p:transition>
    </mc:Choice>
    <mc:Fallback>
      <p:transition spd="slow">
        <p:fade/>
        <p:sndAc>
          <p:stSnd>
            <p:snd r:embed="rId3" name="drumroll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6938" y="365075"/>
            <a:ext cx="4842049" cy="314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Описание проекта и архитектура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96938" y="846237"/>
            <a:ext cx="6950125" cy="314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Консольный чат — приложение для общения пользователей в режиме реального времени с поддержкой личных и групповых диалогов.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38" y="1347936"/>
            <a:ext cx="3336875" cy="333687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938" y="1347936"/>
            <a:ext cx="3336875" cy="3336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10189" y="1347936"/>
            <a:ext cx="2079054" cy="157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Ключевые возможности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710187" y="1669182"/>
            <a:ext cx="3336875" cy="90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Регистрация и вход в систему</a:t>
            </a:r>
            <a:endParaRPr lang="en-US" sz="10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Личные и групповые чаты</a:t>
            </a:r>
            <a:endParaRPr lang="en-US" sz="10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Отправка файлов и emoji</a:t>
            </a:r>
            <a:endParaRPr lang="en-US" sz="10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Online/offline статус пользователей</a:t>
            </a:r>
            <a:endParaRPr lang="en-US" sz="10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История сообщений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6313" y="445294"/>
            <a:ext cx="4077891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Пользователи и чаты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506313" y="1050503"/>
            <a:ext cx="2283396" cy="1868165"/>
          </a:xfrm>
          <a:prstGeom prst="roundRect">
            <a:avLst>
              <a:gd name="adj" fmla="val 11615"/>
            </a:avLst>
          </a:prstGeom>
          <a:solidFill>
            <a:srgbClr val="0A081B"/>
          </a:solidFill>
          <a:ln w="14288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665262" y="1209452"/>
            <a:ext cx="1607344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👤</a:t>
            </a: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Профили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65262" y="1496467"/>
            <a:ext cx="1965499" cy="1263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Регистрация и авторизация</a:t>
            </a:r>
            <a:endParaRPr lang="en-US" sz="11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Хранение паролей</a:t>
            </a:r>
            <a:endParaRPr lang="en-US" sz="11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Фото профиля</a:t>
            </a:r>
            <a:endParaRPr lang="en-US" sz="11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Online/offline статус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5291" y="1050503"/>
            <a:ext cx="2283396" cy="1868165"/>
          </a:xfrm>
          <a:prstGeom prst="roundRect">
            <a:avLst>
              <a:gd name="adj" fmla="val 11615"/>
            </a:avLst>
          </a:prstGeom>
          <a:solidFill>
            <a:srgbClr val="0A081B"/>
          </a:solidFill>
          <a:ln w="14288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3084240" y="1209452"/>
            <a:ext cx="1607344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💬</a:t>
            </a: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Чаты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084240" y="1496467"/>
            <a:ext cx="1965499" cy="1039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Личные сообщения</a:t>
            </a:r>
            <a:endParaRPr lang="en-US" sz="11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Групповые чаты</a:t>
            </a:r>
            <a:endParaRPr lang="en-US" sz="11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«Избранное»</a:t>
            </a:r>
            <a:endParaRPr lang="en-US" sz="11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История переписки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6313" y="3054251"/>
            <a:ext cx="4702373" cy="1643955"/>
          </a:xfrm>
          <a:prstGeom prst="roundRect">
            <a:avLst>
              <a:gd name="adj" fmla="val 13199"/>
            </a:avLst>
          </a:prstGeom>
          <a:solidFill>
            <a:srgbClr val="0A081B"/>
          </a:solidFill>
          <a:ln w="14288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665262" y="3213199"/>
            <a:ext cx="1607344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📂</a:t>
            </a: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Файлы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65262" y="3500214"/>
            <a:ext cx="4384477" cy="1039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Отправка любых файлов</a:t>
            </a:r>
            <a:endParaRPr lang="en-US" sz="11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Сохранение в </a:t>
            </a:r>
            <a:r>
              <a:rPr lang="en-US" sz="11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ChatData/files</a:t>
            </a:r>
            <a:endParaRPr lang="en-US" sz="11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Отображение пути к файлу</a:t>
            </a:r>
            <a:endParaRPr lang="en-US" sz="11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Загрузка фото профиля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131" y="514871"/>
            <a:ext cx="3779044" cy="415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Файлы и Emoji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68" y="3136702"/>
            <a:ext cx="2938526" cy="16651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8432" y="1292126"/>
            <a:ext cx="2423964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Что поддерживает чат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28432" y="1644551"/>
            <a:ext cx="2597200" cy="1329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Текстовые сообщения с emoji</a:t>
            </a:r>
            <a:endParaRPr lang="en-US" sz="1150" dirty="0"/>
          </a:p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Передача любых файлов</a:t>
            </a:r>
            <a:endParaRPr lang="en-US" sz="1150" dirty="0"/>
          </a:p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Сохранение истории переписки</a:t>
            </a:r>
            <a:endParaRPr lang="en-US" sz="1150" dirty="0"/>
          </a:p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Отображение пути к загруженному файлу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028432" y="3136702"/>
            <a:ext cx="2597200" cy="1328961"/>
          </a:xfrm>
          <a:prstGeom prst="roundRect">
            <a:avLst>
              <a:gd name="adj" fmla="val 16872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7855" y="3368948"/>
            <a:ext cx="186854" cy="1494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14133" y="3318867"/>
            <a:ext cx="1962076" cy="94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Файлы сохраняются в папку </a:t>
            </a:r>
            <a:r>
              <a:rPr lang="en-US" sz="1150" dirty="0">
                <a:solidFill>
                  <a:srgbClr val="FFFFFF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ChatData/files</a:t>
            </a:r>
            <a:r>
              <a:rPr lang="en-US" sz="11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относительно рабочей директории приложения.</a:t>
            </a:r>
            <a:endParaRPr lang="en-US" sz="115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02C5E1B-857C-DFBB-75A0-CB9B85E855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2986" b="52542"/>
          <a:stretch>
            <a:fillRect/>
          </a:stretch>
        </p:blipFill>
        <p:spPr>
          <a:xfrm>
            <a:off x="523131" y="1292126"/>
            <a:ext cx="4212155" cy="14619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508275"/>
            <a:ext cx="5059412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Пример кода: выбор Emoji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0023" y="1091161"/>
            <a:ext cx="215745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Метод </a:t>
            </a:r>
            <a:r>
              <a:rPr lang="en-US" sz="1250" b="1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ChooseEmoji()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24693" y="2640165"/>
            <a:ext cx="8063954" cy="1995060"/>
          </a:xfrm>
          <a:prstGeom prst="roundRect">
            <a:avLst>
              <a:gd name="adj" fmla="val 17857"/>
            </a:avLst>
          </a:prstGeom>
          <a:solidFill>
            <a:srgbClr val="17152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40023" y="1384663"/>
            <a:ext cx="8079284" cy="1356032"/>
          </a:xfrm>
          <a:prstGeom prst="roundRect">
            <a:avLst>
              <a:gd name="adj" fmla="val 1786"/>
            </a:avLst>
          </a:prstGeom>
          <a:solidFill>
            <a:srgbClr val="171528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6" name="Text 4"/>
          <p:cNvSpPr/>
          <p:nvPr/>
        </p:nvSpPr>
        <p:spPr>
          <a:xfrm>
            <a:off x="725239" y="1464497"/>
            <a:ext cx="7693521" cy="3029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>
              <a:lnSpc>
                <a:spcPct val="133000"/>
              </a:lnSpc>
            </a:pPr>
            <a:r>
              <a:rPr lang="en-US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static string </a:t>
            </a:r>
            <a:r>
              <a:rPr lang="en-US" sz="4000" dirty="0" err="1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ChooseEmoji</a:t>
            </a:r>
            <a:r>
              <a:rPr lang="en-US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()</a:t>
            </a:r>
          </a:p>
          <a:p>
            <a:pPr>
              <a:lnSpc>
                <a:spcPct val="133000"/>
              </a:lnSpc>
            </a:pPr>
            <a:r>
              <a:rPr lang="en-US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{</a:t>
            </a:r>
          </a:p>
          <a:p>
            <a:pPr>
              <a:lnSpc>
                <a:spcPct val="133000"/>
              </a:lnSpc>
            </a:pPr>
            <a:r>
              <a:rPr lang="en-US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    </a:t>
            </a:r>
            <a:r>
              <a:rPr lang="en-US" sz="4000" dirty="0" err="1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Console.WriteLine</a:t>
            </a:r>
            <a:r>
              <a:rPr lang="en-US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("</a:t>
            </a:r>
            <a:r>
              <a:rPr lang="ru-RU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Выберите </a:t>
            </a:r>
            <a:r>
              <a:rPr lang="en-US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emoji:");</a:t>
            </a:r>
          </a:p>
          <a:p>
            <a:pPr>
              <a:lnSpc>
                <a:spcPct val="133000"/>
              </a:lnSpc>
            </a:pPr>
            <a:r>
              <a:rPr lang="en-US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    </a:t>
            </a:r>
            <a:r>
              <a:rPr lang="en-US" sz="4000" dirty="0" err="1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Console.WriteLine</a:t>
            </a:r>
            <a:r>
              <a:rPr lang="en-US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("1. </a:t>
            </a:r>
            <a:r>
              <a:rPr lang="ru-RU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😀  2. 😂  3. 😎  4. ❤️  5. 👍  6. 🔥  7. 🎉  8. 😢");</a:t>
            </a:r>
          </a:p>
          <a:p>
            <a:pPr>
              <a:lnSpc>
                <a:spcPct val="133000"/>
              </a:lnSpc>
            </a:pPr>
            <a:r>
              <a:rPr lang="ru-RU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    </a:t>
            </a:r>
            <a:r>
              <a:rPr lang="en-US" sz="4000" dirty="0" err="1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Console.Write</a:t>
            </a:r>
            <a:r>
              <a:rPr lang="en-US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("</a:t>
            </a:r>
            <a:r>
              <a:rPr lang="ru-RU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Номер: ");</a:t>
            </a:r>
          </a:p>
          <a:p>
            <a:pPr>
              <a:lnSpc>
                <a:spcPct val="133000"/>
              </a:lnSpc>
            </a:pPr>
            <a:r>
              <a:rPr lang="ru-RU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    </a:t>
            </a:r>
            <a:r>
              <a:rPr lang="en-US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string choice = </a:t>
            </a:r>
            <a:r>
              <a:rPr lang="en-US" sz="4000" dirty="0" err="1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Console.ReadLine</a:t>
            </a:r>
            <a:r>
              <a:rPr lang="en-US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() ?? "";</a:t>
            </a:r>
          </a:p>
          <a:p>
            <a:pPr>
              <a:lnSpc>
                <a:spcPct val="133000"/>
              </a:lnSpc>
            </a:pPr>
            <a:endParaRPr lang="en-US" sz="4000" dirty="0">
              <a:solidFill>
                <a:srgbClr val="FF7B72"/>
              </a:solidFill>
              <a:highlight>
                <a:srgbClr val="171528"/>
              </a:highlight>
              <a:latin typeface="Consolas" pitchFamily="34" charset="0"/>
            </a:endParaRPr>
          </a:p>
          <a:p>
            <a:pPr>
              <a:lnSpc>
                <a:spcPct val="133000"/>
              </a:lnSpc>
            </a:pPr>
            <a:r>
              <a:rPr lang="en-US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    if (choice == "1") return "</a:t>
            </a:r>
            <a:r>
              <a:rPr lang="ru-RU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😀";</a:t>
            </a:r>
          </a:p>
          <a:p>
            <a:pPr>
              <a:lnSpc>
                <a:spcPct val="133000"/>
              </a:lnSpc>
            </a:pPr>
            <a:r>
              <a:rPr lang="ru-RU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    </a:t>
            </a:r>
            <a:r>
              <a:rPr lang="en-US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if (choice == "2") return "</a:t>
            </a:r>
            <a:r>
              <a:rPr lang="ru-RU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😂";</a:t>
            </a:r>
          </a:p>
          <a:p>
            <a:pPr>
              <a:lnSpc>
                <a:spcPct val="133000"/>
              </a:lnSpc>
            </a:pPr>
            <a:r>
              <a:rPr lang="ru-RU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    </a:t>
            </a:r>
            <a:r>
              <a:rPr lang="en-US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if (choice == "3") return "</a:t>
            </a:r>
            <a:r>
              <a:rPr lang="ru-RU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😎";</a:t>
            </a:r>
          </a:p>
          <a:p>
            <a:pPr>
              <a:lnSpc>
                <a:spcPct val="133000"/>
              </a:lnSpc>
            </a:pPr>
            <a:r>
              <a:rPr lang="ru-RU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    </a:t>
            </a:r>
            <a:r>
              <a:rPr lang="en-US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if (choice == "4") return "❤️";</a:t>
            </a:r>
          </a:p>
          <a:p>
            <a:pPr>
              <a:lnSpc>
                <a:spcPct val="133000"/>
              </a:lnSpc>
            </a:pPr>
            <a:r>
              <a:rPr lang="en-US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    if (choice == "5") return "</a:t>
            </a:r>
            <a:r>
              <a:rPr lang="ru-RU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👍";</a:t>
            </a:r>
          </a:p>
          <a:p>
            <a:pPr>
              <a:lnSpc>
                <a:spcPct val="133000"/>
              </a:lnSpc>
            </a:pPr>
            <a:r>
              <a:rPr lang="ru-RU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    </a:t>
            </a:r>
            <a:r>
              <a:rPr lang="en-US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if (choice == "6") return "</a:t>
            </a:r>
            <a:r>
              <a:rPr lang="ru-RU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🔥";</a:t>
            </a:r>
          </a:p>
          <a:p>
            <a:pPr>
              <a:lnSpc>
                <a:spcPct val="133000"/>
              </a:lnSpc>
            </a:pPr>
            <a:r>
              <a:rPr lang="ru-RU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    </a:t>
            </a:r>
            <a:r>
              <a:rPr lang="en-US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if (choice == "7") return "</a:t>
            </a:r>
            <a:r>
              <a:rPr lang="ru-RU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🎉";</a:t>
            </a:r>
          </a:p>
          <a:p>
            <a:pPr>
              <a:lnSpc>
                <a:spcPct val="133000"/>
              </a:lnSpc>
            </a:pPr>
            <a:r>
              <a:rPr lang="ru-RU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    </a:t>
            </a:r>
            <a:r>
              <a:rPr lang="en-US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if (choice == "8") return "</a:t>
            </a:r>
            <a:r>
              <a:rPr lang="ru-RU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😢";</a:t>
            </a:r>
          </a:p>
          <a:p>
            <a:pPr>
              <a:lnSpc>
                <a:spcPct val="133000"/>
              </a:lnSpc>
            </a:pPr>
            <a:r>
              <a:rPr lang="ru-RU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    </a:t>
            </a:r>
            <a:r>
              <a:rPr lang="en-US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return "";</a:t>
            </a:r>
          </a:p>
          <a:p>
            <a:pPr>
              <a:lnSpc>
                <a:spcPct val="133000"/>
              </a:lnSpc>
            </a:pPr>
            <a:r>
              <a:rPr lang="en-US" sz="4000" dirty="0">
                <a:solidFill>
                  <a:srgbClr val="FF7B72"/>
                </a:solidFill>
                <a:highlight>
                  <a:srgbClr val="171528"/>
                </a:highlight>
                <a:latin typeface="Consolas" pitchFamily="34" charset="0"/>
              </a:rPr>
              <a:t>}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3600" dirty="0">
              <a:solidFill>
                <a:srgbClr val="FF7B72"/>
              </a:solidFill>
              <a:highlight>
                <a:srgbClr val="171528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62348" y="270272"/>
            <a:ext cx="3045991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Многопоточность и сеть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762348" y="633561"/>
            <a:ext cx="5619229" cy="233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Многопоточность обеспечивает стабильную работу: сервер обрабатывает нескольких клиентов одновременно, а клиент принимает сообщения без зависаний интерфейса.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269" y="928241"/>
            <a:ext cx="3173313" cy="29934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61336" y="2824731"/>
            <a:ext cx="1235997" cy="14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Приём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289936" y="3010161"/>
            <a:ext cx="1007397" cy="402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TcpListener принимает входящие подключения.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819913" y="1492744"/>
            <a:ext cx="1235997" cy="14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Запуск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048513" y="1678174"/>
            <a:ext cx="1007397" cy="302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Task.Run создаёт поток для каждого клиента.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623354" y="2824731"/>
            <a:ext cx="1235997" cy="14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Асинхронность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851954" y="3010161"/>
            <a:ext cx="1007397" cy="402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async/await читает/пишет NetworkStream без блокировки.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762348" y="3982864"/>
            <a:ext cx="5619229" cy="233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Схема показывает, как сервер принимает подключения и для каждого клиента запускает отдельный поток через </a:t>
            </a:r>
            <a:r>
              <a:rPr lang="en-US" sz="7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Task.Run</a:t>
            </a: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а асинхронные операции </a:t>
            </a:r>
            <a:r>
              <a:rPr lang="en-US" sz="7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async/await</a:t>
            </a: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обеспечивают неблокирующий обмен данными через </a:t>
            </a:r>
            <a:r>
              <a:rPr lang="en-US" sz="7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NetworkStream</a:t>
            </a: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1762348" y="4277544"/>
            <a:ext cx="1836762" cy="595610"/>
          </a:xfrm>
          <a:prstGeom prst="roundRect">
            <a:avLst>
              <a:gd name="adj" fmla="val 7676"/>
            </a:avLst>
          </a:prstGeom>
          <a:solidFill>
            <a:srgbClr val="0A081B">
              <a:alpha val="75000"/>
            </a:srgbClr>
          </a:solidFill>
          <a:ln w="9525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1752823" y="4277544"/>
            <a:ext cx="38100" cy="595610"/>
          </a:xfrm>
          <a:prstGeom prst="roundRect">
            <a:avLst>
              <a:gd name="adj" fmla="val 360704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1892052" y="4378672"/>
            <a:ext cx="1017984" cy="127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Task.Run()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892052" y="4538514"/>
            <a:ext cx="1605930" cy="233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Запуск обработки клиента в отдельном потоке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3653507" y="4277544"/>
            <a:ext cx="1836837" cy="595610"/>
          </a:xfrm>
          <a:prstGeom prst="roundRect">
            <a:avLst>
              <a:gd name="adj" fmla="val 7676"/>
            </a:avLst>
          </a:prstGeom>
          <a:solidFill>
            <a:srgbClr val="0A081B">
              <a:alpha val="75000"/>
            </a:srgbClr>
          </a:solidFill>
          <a:ln w="9525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643982" y="4277544"/>
            <a:ext cx="38100" cy="595610"/>
          </a:xfrm>
          <a:prstGeom prst="roundRect">
            <a:avLst>
              <a:gd name="adj" fmla="val 360704"/>
            </a:avLst>
          </a:prstGeom>
          <a:solidFill>
            <a:srgbClr val="29DDD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3783211" y="4378672"/>
            <a:ext cx="1017984" cy="127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async / await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783211" y="4538514"/>
            <a:ext cx="1606004" cy="233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Асинхронный ввод-вывод без блокировки потока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544741" y="4277544"/>
            <a:ext cx="1836837" cy="595610"/>
          </a:xfrm>
          <a:prstGeom prst="roundRect">
            <a:avLst>
              <a:gd name="adj" fmla="val 7676"/>
            </a:avLst>
          </a:prstGeom>
          <a:solidFill>
            <a:srgbClr val="0A081B">
              <a:alpha val="75000"/>
            </a:srgbClr>
          </a:solidFill>
          <a:ln w="9525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8"/>
          <p:cNvSpPr/>
          <p:nvPr/>
        </p:nvSpPr>
        <p:spPr>
          <a:xfrm>
            <a:off x="5535216" y="4277544"/>
            <a:ext cx="38100" cy="595610"/>
          </a:xfrm>
          <a:prstGeom prst="roundRect">
            <a:avLst>
              <a:gd name="adj" fmla="val 360704"/>
            </a:avLst>
          </a:prstGeom>
          <a:solidFill>
            <a:srgbClr val="37A7E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/>
          <p:nvPr/>
        </p:nvSpPr>
        <p:spPr>
          <a:xfrm>
            <a:off x="5674444" y="4378672"/>
            <a:ext cx="1017984" cy="127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NetworkStream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74444" y="4538514"/>
            <a:ext cx="1606004" cy="233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Потоковая передача данных через TCP-соединение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40520" y="333077"/>
            <a:ext cx="3475062" cy="274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Тестирование программы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540520" y="734318"/>
            <a:ext cx="6520086" cy="12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 ходе тестирования были проверены все ключевые функции приложения — от запуска сервера до отправки файлов и emoji.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1540520" y="1088536"/>
            <a:ext cx="395362" cy="593080"/>
          </a:xfrm>
          <a:prstGeom prst="roundRect">
            <a:avLst>
              <a:gd name="adj" fmla="val 360041"/>
            </a:avLst>
          </a:prstGeom>
          <a:solidFill>
            <a:srgbClr val="0A081B"/>
          </a:solidFill>
          <a:ln w="9525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4047" y="1310959"/>
            <a:ext cx="148233" cy="14823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999208" y="1187358"/>
            <a:ext cx="1241747" cy="13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Отправка сообщений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1540520" y="1748433"/>
            <a:ext cx="395362" cy="593080"/>
          </a:xfrm>
          <a:prstGeom prst="roundRect">
            <a:avLst>
              <a:gd name="adj" fmla="val 360041"/>
            </a:avLst>
          </a:prstGeom>
          <a:solidFill>
            <a:srgbClr val="0A081B"/>
          </a:solidFill>
          <a:ln w="9525">
            <a:solidFill>
              <a:srgbClr val="09123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4047" y="1970857"/>
            <a:ext cx="148233" cy="14823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999208" y="1847255"/>
            <a:ext cx="1098352" cy="13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Групповые чаты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1545282" y="2565872"/>
            <a:ext cx="395362" cy="593080"/>
          </a:xfrm>
          <a:prstGeom prst="roundRect">
            <a:avLst>
              <a:gd name="adj" fmla="val 360041"/>
            </a:avLst>
          </a:prstGeom>
          <a:solidFill>
            <a:srgbClr val="0A081B"/>
          </a:solidFill>
          <a:ln w="9525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1"/>
          <p:cNvSpPr/>
          <p:nvPr/>
        </p:nvSpPr>
        <p:spPr>
          <a:xfrm>
            <a:off x="2003970" y="2664694"/>
            <a:ext cx="1098352" cy="13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Передача файлов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1558672" y="3381276"/>
            <a:ext cx="395362" cy="593080"/>
          </a:xfrm>
          <a:prstGeom prst="roundRect">
            <a:avLst>
              <a:gd name="adj" fmla="val 360041"/>
            </a:avLst>
          </a:prstGeom>
          <a:solidFill>
            <a:srgbClr val="0A081B"/>
          </a:solidFill>
          <a:ln w="9525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3"/>
          <p:cNvSpPr/>
          <p:nvPr/>
        </p:nvSpPr>
        <p:spPr>
          <a:xfrm>
            <a:off x="2017360" y="3480098"/>
            <a:ext cx="1098352" cy="13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Emoji и история</a:t>
            </a:r>
            <a:endParaRPr lang="en-US" sz="85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C92EB22-EE6D-FE47-CD33-6F229BF377E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2452" b="54803"/>
          <a:stretch>
            <a:fillRect/>
          </a:stretch>
        </p:blipFill>
        <p:spPr>
          <a:xfrm>
            <a:off x="3359798" y="1088536"/>
            <a:ext cx="3687614" cy="1210527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06DA3395-61D2-9853-1BDD-85EB7D3A6D2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94786" y="2733341"/>
            <a:ext cx="296278" cy="296278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4792210A-BF39-FEE7-902F-4BCA443FA6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2938" y="3508987"/>
            <a:ext cx="312372" cy="312372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322AD52-5037-6170-8990-06AA5757DD8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49573"/>
          <a:stretch>
            <a:fillRect/>
          </a:stretch>
        </p:blipFill>
        <p:spPr>
          <a:xfrm>
            <a:off x="3359798" y="2402335"/>
            <a:ext cx="3446771" cy="9789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6313" y="449461"/>
            <a:ext cx="4281562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Репозиторий на GitHub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06313" y="1054671"/>
            <a:ext cx="4702373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Проект размещён на GitHub для хранения кода, контроля версий и совместной работы.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313" y="1655638"/>
            <a:ext cx="289322" cy="28932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5150" y="1705347"/>
            <a:ext cx="16073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Исходный код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965150" y="1987600"/>
            <a:ext cx="4243536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Полный код проекта с комментариями и структурой классов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6313" y="2483048"/>
            <a:ext cx="289322" cy="28932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5150" y="2532757"/>
            <a:ext cx="16073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README.md и Wiki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965150" y="2815010"/>
            <a:ext cx="4243536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Описание проекта, инструкция по запуску и документация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6313" y="3310458"/>
            <a:ext cx="289322" cy="28932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5150" y="3360167"/>
            <a:ext cx="16073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Контроль версий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965150" y="3642420"/>
            <a:ext cx="4243536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История коммитов, ветвление и отслеживание изменений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6313" y="4137868"/>
            <a:ext cx="289322" cy="28932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5150" y="4187577"/>
            <a:ext cx="16073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Презентация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965150" y="4469829"/>
            <a:ext cx="4243536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Материалы проекта включены в репозиторий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7830" y="408682"/>
            <a:ext cx="3618309" cy="395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Итоги проекта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7830" y="1066056"/>
            <a:ext cx="8148340" cy="4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 результате был создан полноценный консольный чат с клиент-серверной архитектурой, поддерживающий общение локально и через сеть.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95362" y="1650950"/>
            <a:ext cx="4105573" cy="2422699"/>
          </a:xfrm>
          <a:prstGeom prst="roundRect">
            <a:avLst>
              <a:gd name="adj" fmla="val 14092"/>
            </a:avLst>
          </a:prstGeom>
          <a:solidFill>
            <a:srgbClr val="091231">
              <a:alpha val="7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537567" y="1782068"/>
            <a:ext cx="2402756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Изученные технологии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7567" y="2110755"/>
            <a:ext cx="3821162" cy="1276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TCP-соединения и сокеты</a:t>
            </a:r>
            <a:endParaRPr lang="en-US" sz="11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Клиент-серверная архитектура</a:t>
            </a:r>
            <a:endParaRPr lang="en-US" sz="11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Многопоточность (</a:t>
            </a:r>
            <a:r>
              <a:rPr lang="en-US" sz="1100" dirty="0">
                <a:solidFill>
                  <a:srgbClr val="E0E4E6"/>
                </a:solidFill>
                <a:highlight>
                  <a:srgbClr val="161F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Task.Run</a:t>
            </a: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r>
              <a:rPr lang="en-US" sz="1100" dirty="0">
                <a:solidFill>
                  <a:srgbClr val="E0E4E6"/>
                </a:solidFill>
                <a:highlight>
                  <a:srgbClr val="161F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async/await</a:t>
            </a: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)</a:t>
            </a:r>
            <a:endParaRPr lang="en-US" sz="11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Работа с файлами и JSON</a:t>
            </a:r>
            <a:endParaRPr lang="en-US" sz="11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Git и GitHub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0296" y="1782068"/>
            <a:ext cx="2037755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Что получилось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0296" y="2110755"/>
            <a:ext cx="3900636" cy="656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Работающее приложение с регистрацией, личными и групповыми чатами, передачей файлов, emoji и историей сообщений.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0296" y="2914352"/>
            <a:ext cx="3900636" cy="1011808"/>
          </a:xfrm>
          <a:prstGeom prst="roundRect">
            <a:avLst>
              <a:gd name="adj" fmla="val 21088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501" y="3129483"/>
            <a:ext cx="177775" cy="14220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12482" y="3080965"/>
            <a:ext cx="3296245" cy="656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Программа успешно поддерживает общение пользователей как на одном компьютере, так и через TCP-сеть.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9D7FA-F6B6-121D-D1EE-B1700D6C0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5FD6368-48C3-8CE5-01EB-670522467D8D}"/>
              </a:ext>
            </a:extLst>
          </p:cNvPr>
          <p:cNvSpPr/>
          <p:nvPr/>
        </p:nvSpPr>
        <p:spPr>
          <a:xfrm>
            <a:off x="2584598" y="2184407"/>
            <a:ext cx="3974804" cy="77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8000"/>
              </a:lnSpc>
            </a:pPr>
            <a:r>
              <a:rPr lang="en-US" sz="2800" b="1" dirty="0" err="1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Спасибо</a:t>
            </a:r>
            <a:r>
              <a:rPr lang="en-US" sz="28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2800" b="1" dirty="0" err="1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за</a:t>
            </a:r>
            <a:r>
              <a:rPr lang="en-US" sz="28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2800" b="1" dirty="0" err="1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внимание</a:t>
            </a:r>
            <a:r>
              <a:rPr lang="en-US" sz="28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!</a:t>
            </a:r>
          </a:p>
          <a:p>
            <a:pPr>
              <a:lnSpc>
                <a:spcPct val="128000"/>
              </a:lnSpc>
            </a:pPr>
            <a:endParaRPr lang="en-US" b="1" dirty="0">
              <a:solidFill>
                <a:srgbClr val="E0E4E6"/>
              </a:solidFill>
              <a:latin typeface="Barl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7424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606</Words>
  <Application>Microsoft Office PowerPoint</Application>
  <PresentationFormat>Экран (16:9)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Spline Sans Bold</vt:lpstr>
      <vt:lpstr>Aptos</vt:lpstr>
      <vt:lpstr>Barlow</vt:lpstr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глухов сергей</cp:lastModifiedBy>
  <cp:revision>10</cp:revision>
  <dcterms:created xsi:type="dcterms:W3CDTF">2026-05-22T16:03:10Z</dcterms:created>
  <dcterms:modified xsi:type="dcterms:W3CDTF">2026-05-23T07:21:11Z</dcterms:modified>
</cp:coreProperties>
</file>